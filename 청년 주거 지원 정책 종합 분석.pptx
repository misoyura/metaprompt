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</ns0:sldIdLst>
  <ns0:sldSz cx="12192000" cy="6858000" type="screen4x3"/>
  <ns0:notesSz cx="6858000" cy="9144000"/>
  <ns0:embeddedFontLst>
    <ns0:embeddedFont>
      <ns0:font typeface="Noto Sans KR"/>
      <ns0:bold ns1:id="rIdFont16"/>
      <ns0:regular ns1:id="rIdFont17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Font16" Type="http://schemas.openxmlformats.org/officeDocument/2006/relationships/font" Target="fonts/6168a7cd-33bc-4a94-a021-0d9d204b3a80.fntdata" /><ns0:Relationship Id="rIdFont17" Type="http://schemas.openxmlformats.org/officeDocument/2006/relationships/font" Target="fonts/a730d69c-6eee-42c0-ab7a-3af43490f967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5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Relationship Id="rId10" Type="http://schemas.openxmlformats.org/officeDocument/2006/relationships/image" Target="../media/image1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2.png"/><Relationship Id="rId5" Type="http://schemas.openxmlformats.org/officeDocument/2006/relationships/image" Target="../media/image17.png"/><Relationship Id="rId6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848475"/>
            <a:ext cx="12192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3276600"/>
            <a:ext cx="10972800" cy="11906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6096000"/>
            <a:ext cx="10972800" cy="2952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9600" y="457200"/>
            <a:ext cx="1474142" cy="2476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3276600"/>
            <a:ext cx="38100" cy="119062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" y="6096000"/>
            <a:ext cx="1097280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6243637"/>
            <a:ext cx="96440" cy="1238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3457575"/>
            <a:ext cx="103733" cy="1524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3771900"/>
            <a:ext cx="103733" cy="1524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4086225"/>
            <a:ext cx="103733" cy="152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23900" y="495300"/>
            <a:ext cx="1340792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FFFFFF"/>
                </a:solidFill>
                <a:latin typeface="Noto Sans KR"/>
              </a:rPr>
              <a:t>2026 대학생 주거 안내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59942" y="495300"/>
            <a:ext cx="202945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Noto Sans KR"/>
              </a:rPr>
              <a:t>청년 주거지원 정책 종합 분석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1085850"/>
            <a:ext cx="11582400" cy="1047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125"/>
              </a:lnSpc>
            </a:pPr>
            <a:r>
              <a:rPr b="1" sz="3300" i="0" u="none">
                <a:solidFill>
                  <a:srgbClr val="0F172A"/>
                </a:solidFill>
                <a:latin typeface="Noto Sans KR"/>
              </a:rPr>
              <a:t>청년·대학생 맞춤형</a:t>
            </a:r>
            <a:r>
              <a:t>
</a:t>
            </a:r>
            <a:r>
              <a:rPr b="1" sz="3300" i="0" u="none">
                <a:solidFill>
                  <a:srgbClr val="2563EB"/>
                </a:solidFill>
                <a:latin typeface="Noto Sans KR"/>
              </a:rPr>
              <a:t>주거지원 제도</a:t>
            </a:r>
            <a:r>
              <a:rPr b="1" sz="3300" i="0" u="none">
                <a:solidFill>
                  <a:srgbClr val="0F172A"/>
                </a:solidFill>
                <a:latin typeface="Noto Sans KR"/>
              </a:rPr>
              <a:t> 종합 가이드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2286000"/>
            <a:ext cx="695325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475569"/>
                </a:solidFill>
                <a:latin typeface="Noto Sans KR"/>
              </a:rPr>
              <a:t>공공임대주택부터 현금 보조, 초저금리 전세대출 및 지자체 특화 사업까지</a:t>
            </a:r>
            <a:r>
              <a:t>
</a:t>
            </a:r>
            <a:r>
              <a:rPr b="0" sz="1500" i="0" u="none">
                <a:solidFill>
                  <a:srgbClr val="475569"/>
                </a:solidFill>
                <a:latin typeface="Noto Sans KR"/>
              </a:rPr>
              <a:t> 대학생이 바로 활용할 수 있는 핵심 주거 정책 완벽 정리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3190" y="6219825"/>
            <a:ext cx="5146737" cy="1714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0" sz="975" i="0" u="none">
                <a:solidFill>
                  <a:srgbClr val="0F172A"/>
                </a:solidFill>
                <a:latin typeface="Noto Sans KR"/>
              </a:rPr>
              <a:t>출처: 국토교통부, LH 청약플러스, 한국장학재단, GH 발표자료 종합 (2026)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32802" y="6238875"/>
            <a:ext cx="635347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2563EB"/>
                </a:solidFill>
                <a:latin typeface="Noto Sans KR"/>
              </a:rPr>
              <a:t>01 / 08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7183" y="3429000"/>
            <a:ext cx="11154816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1E293B"/>
                </a:solidFill>
                <a:latin typeface="Noto Sans KR"/>
              </a:rPr>
              <a:t>수혜 대상 확대:</a:t>
            </a:r>
            <a:r>
              <a:rPr b="0" sz="1350" i="0" u="none">
                <a:solidFill>
                  <a:srgbClr val="1E293B"/>
                </a:solidFill>
                <a:latin typeface="Noto Sans KR"/>
              </a:rPr>
              <a:t> 중산층 청년까지 아우르는 보편적 주거 복지 체계로 전환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7183" y="3743325"/>
            <a:ext cx="11154816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1E293B"/>
                </a:solidFill>
                <a:latin typeface="Noto Sans KR"/>
              </a:rPr>
              <a:t>다차원 지원:</a:t>
            </a:r>
            <a:r>
              <a:rPr b="0" sz="1350" i="0" u="none">
                <a:solidFill>
                  <a:srgbClr val="1E293B"/>
                </a:solidFill>
                <a:latin typeface="Noto Sans KR"/>
              </a:rPr>
              <a:t> 임대주택 입주, 월세 현금 보조, 전세 대출의 유기적 결합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7183" y="4057650"/>
            <a:ext cx="11154816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1E293B"/>
                </a:solidFill>
                <a:latin typeface="Noto Sans KR"/>
              </a:rPr>
              <a:t>맞춤 전략:</a:t>
            </a:r>
            <a:r>
              <a:rPr b="0" sz="1350" i="0" u="none">
                <a:solidFill>
                  <a:srgbClr val="1E293B"/>
                </a:solidFill>
                <a:latin typeface="Noto Sans KR"/>
              </a:rPr>
              <a:t> 소득·거주 유형별 최적의 지원 제도 선택 가이드 제공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48475"/>
            <a:ext cx="12192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6096000"/>
            <a:ext cx="10972800" cy="2952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2324100"/>
            <a:ext cx="10972800" cy="119062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3819525"/>
            <a:ext cx="10972800" cy="1476375"/>
          </a:xfrm>
          <a:prstGeom prst="roundRect">
            <a:avLst>
              <a:gd name="adj" fmla="val 774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6096000"/>
            <a:ext cx="1097280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2324100"/>
            <a:ext cx="38100" cy="119062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9625" y="4552950"/>
            <a:ext cx="10572750" cy="1143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09625" y="4981575"/>
            <a:ext cx="10572750" cy="1143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9625" y="4552950"/>
            <a:ext cx="10572750" cy="11430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9625" y="4981575"/>
            <a:ext cx="2114550" cy="1143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476250"/>
            <a:ext cx="110430" cy="1333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6243637"/>
            <a:ext cx="96440" cy="1238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2505075"/>
            <a:ext cx="103733" cy="1524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2819400"/>
            <a:ext cx="103733" cy="1524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3133725"/>
            <a:ext cx="103733" cy="1524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96230" y="457200"/>
            <a:ext cx="11395769" cy="1714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Noto Sans KR"/>
              </a:rPr>
              <a:t>정책 동향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685800"/>
            <a:ext cx="11582400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1" sz="2250" i="0" u="none">
                <a:solidFill>
                  <a:srgbClr val="0F172A"/>
                </a:solidFill>
                <a:latin typeface="Noto Sans KR"/>
              </a:rPr>
              <a:t>청년 주거 정책 패러다임의 주요 전환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1066800"/>
            <a:ext cx="115824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Noto Sans KR"/>
              </a:rPr>
              <a:t>선별적 구호 수준에서 '보편적 주거 복지' 모델로 전격 이행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3190" y="6219825"/>
            <a:ext cx="3762449" cy="1714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0" sz="975" i="0" u="none">
                <a:solidFill>
                  <a:srgbClr val="0F172A"/>
                </a:solidFill>
                <a:latin typeface="Noto Sans KR"/>
              </a:rPr>
              <a:t>출처: 국토교통부 「주거안정플랜」(2026.09.21. 발표)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32802" y="6238875"/>
            <a:ext cx="635347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2563EB"/>
                </a:solidFill>
                <a:latin typeface="Noto Sans KR"/>
              </a:rPr>
              <a:t>02 / 08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625" y="4019550"/>
            <a:ext cx="113823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34155"/>
                </a:solidFill>
                <a:latin typeface="Noto Sans KR"/>
              </a:rPr>
              <a:t>2030 공적주택 공급 목표 (국토교통부 주거안정플랜)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7183" y="2476500"/>
            <a:ext cx="11154816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1E293B"/>
                </a:solidFill>
                <a:latin typeface="Noto Sans KR"/>
              </a:rPr>
              <a:t>공적주택 대폭 공급:</a:t>
            </a:r>
            <a:r>
              <a:rPr b="0" sz="1350" i="0" u="none">
                <a:solidFill>
                  <a:srgbClr val="1E293B"/>
                </a:solidFill>
                <a:latin typeface="Noto Sans KR"/>
              </a:rPr>
              <a:t> 2030년까지 청년층 대상 맞춤형 공적주택 총 24만 호 공급 추진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7183" y="2790825"/>
            <a:ext cx="11154816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1E293B"/>
                </a:solidFill>
                <a:latin typeface="Noto Sans KR"/>
              </a:rPr>
              <a:t>보편형 공공임대 도입:</a:t>
            </a:r>
            <a:r>
              <a:rPr b="0" sz="1350" i="0" u="none">
                <a:solidFill>
                  <a:srgbClr val="1E293B"/>
                </a:solidFill>
                <a:latin typeface="Noto Sans KR"/>
              </a:rPr>
              <a:t> 까다로운 소득 문턱을 낮추어 중산층 무주택 청년까지 수혜 대상 확대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7183" y="3105150"/>
            <a:ext cx="11154816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1E293B"/>
                </a:solidFill>
                <a:latin typeface="Noto Sans KR"/>
              </a:rPr>
              <a:t>제도적 페널티 완화:</a:t>
            </a:r>
            <a:r>
              <a:rPr b="0" sz="1350" i="0" u="none">
                <a:solidFill>
                  <a:srgbClr val="1E293B"/>
                </a:solidFill>
                <a:latin typeface="Noto Sans KR"/>
              </a:rPr>
              <a:t> 청년 혼인 시 소득·자산 합산으로 인한 주거지원 '결혼 페널티' 완전 개선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9625" y="4333875"/>
            <a:ext cx="118273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0F172A"/>
                </a:solidFill>
                <a:latin typeface="Noto Sans KR"/>
              </a:rPr>
              <a:t>전체 공적주택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26353" y="4333875"/>
            <a:ext cx="841771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Noto Sans KR"/>
              </a:rPr>
              <a:t>119만 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9625" y="4762500"/>
            <a:ext cx="1706686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2563EB"/>
                </a:solidFill>
                <a:latin typeface="Noto Sans KR"/>
              </a:rPr>
              <a:t>청년 맞춤형 공적주택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94590" y="4762500"/>
            <a:ext cx="1373534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2563EB"/>
                </a:solidFill>
                <a:latin typeface="Noto Sans KR"/>
              </a:rPr>
              <a:t>24만 호 (약 20%)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48475"/>
            <a:ext cx="12192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6096000"/>
            <a:ext cx="10972800" cy="2952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2005012"/>
            <a:ext cx="10972800" cy="119062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6096000"/>
            <a:ext cx="1097280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2005012"/>
            <a:ext cx="38100" cy="119062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09600" y="3424237"/>
            <a:ext cx="3530649" cy="219075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30749" y="3424237"/>
            <a:ext cx="3530649" cy="219075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051899" y="3424237"/>
            <a:ext cx="3530649" cy="219075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8675" y="3643312"/>
            <a:ext cx="844153" cy="247650"/>
          </a:xfrm>
          <a:prstGeom prst="roundRect">
            <a:avLst>
              <a:gd name="adj" fmla="val 23076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49824" y="3643312"/>
            <a:ext cx="844153" cy="247650"/>
          </a:xfrm>
          <a:prstGeom prst="roundRect">
            <a:avLst>
              <a:gd name="adj" fmla="val 23076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70974" y="3643312"/>
            <a:ext cx="720328" cy="247650"/>
          </a:xfrm>
          <a:prstGeom prst="roundRect">
            <a:avLst>
              <a:gd name="adj" fmla="val 23076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476250"/>
            <a:ext cx="110430" cy="1333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6243637"/>
            <a:ext cx="96440" cy="12382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675" y="3967162"/>
            <a:ext cx="342900" cy="3429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9824" y="3967162"/>
            <a:ext cx="342900" cy="3429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70974" y="3967162"/>
            <a:ext cx="342900" cy="3429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8200" y="2185987"/>
            <a:ext cx="103733" cy="1524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8200" y="2500312"/>
            <a:ext cx="103733" cy="1524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8200" y="2814637"/>
            <a:ext cx="103733" cy="1524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0742" y="4062412"/>
            <a:ext cx="118616" cy="1524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61892" y="4062412"/>
            <a:ext cx="118616" cy="1524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83041" y="4062412"/>
            <a:ext cx="118616" cy="1524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96230" y="457200"/>
            <a:ext cx="11395769" cy="1714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Noto Sans KR"/>
              </a:rPr>
              <a:t>공공임대주택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9600" y="685800"/>
            <a:ext cx="11582400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1" sz="2250" i="0" u="none">
                <a:solidFill>
                  <a:srgbClr val="0F172A"/>
                </a:solidFill>
                <a:latin typeface="Noto Sans KR"/>
              </a:rPr>
              <a:t>대학생 관련 주요 공공임대주택 비교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9600" y="1066800"/>
            <a:ext cx="115824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Noto Sans KR"/>
              </a:rPr>
              <a:t>시세 대비 저렴한 임대료로 최대 10년 거주 가능한 핵심 임대 유형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3190" y="6219825"/>
            <a:ext cx="4364273" cy="1714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0" sz="975" i="0" u="none">
                <a:solidFill>
                  <a:srgbClr val="0F172A"/>
                </a:solidFill>
                <a:latin typeface="Noto Sans KR"/>
              </a:rPr>
              <a:t>출처: LH 청약플러스 공시 및 국토교통부 고시 자료 종합 (2026)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32802" y="6238875"/>
            <a:ext cx="635347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2563EB"/>
                </a:solidFill>
                <a:latin typeface="Noto Sans KR"/>
              </a:rPr>
              <a:t>03 / 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7183" y="2157412"/>
            <a:ext cx="11154816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1E293B"/>
                </a:solidFill>
                <a:latin typeface="Noto Sans KR"/>
              </a:rPr>
              <a:t>행복주택:</a:t>
            </a:r>
            <a:r>
              <a:rPr b="0" sz="1350" i="0" u="none">
                <a:solidFill>
                  <a:srgbClr val="1E293B"/>
                </a:solidFill>
                <a:latin typeface="Noto Sans KR"/>
              </a:rPr>
              <a:t> 대학생 계층 본인 자산 1.08억 이하 적용 (※ 단, 차량 소유 시 신청 불가)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7183" y="2471737"/>
            <a:ext cx="11154816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1E293B"/>
                </a:solidFill>
                <a:latin typeface="Noto Sans KR"/>
              </a:rPr>
              <a:t>청년 매입임대:</a:t>
            </a:r>
            <a:r>
              <a:rPr b="0" sz="1350" i="0" u="none">
                <a:solidFill>
                  <a:srgbClr val="1E293B"/>
                </a:solidFill>
                <a:latin typeface="Noto Sans KR"/>
              </a:rPr>
              <a:t> 소득·자산 순위(1~3순위)에 따라 시세 30~50% 수준 임대료 제공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7183" y="2786062"/>
            <a:ext cx="11154816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1E293B"/>
                </a:solidFill>
                <a:latin typeface="Noto Sans KR"/>
              </a:rPr>
              <a:t>청년 전세임대:</a:t>
            </a:r>
            <a:r>
              <a:rPr b="0" sz="1350" i="0" u="none">
                <a:solidFill>
                  <a:srgbClr val="1E293B"/>
                </a:solidFill>
                <a:latin typeface="Noto Sans KR"/>
              </a:rPr>
              <a:t> 수도권 최대 1.3억 한도 지원, 연 1.2%~2.2% 저리 월 임대료 산정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3925" y="3681412"/>
            <a:ext cx="748903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D4ED8"/>
                </a:solidFill>
                <a:latin typeface="Noto Sans KR"/>
              </a:rPr>
              <a:t>대학생 특화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8675" y="4424362"/>
            <a:ext cx="3187749" cy="971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475569"/>
                </a:solidFill>
                <a:latin typeface="Noto Sans KR"/>
              </a:rPr>
              <a:t>• </a:t>
            </a:r>
            <a:r>
              <a:rPr b="1" sz="1275" i="0" u="none">
                <a:solidFill>
                  <a:srgbClr val="475569"/>
                </a:solidFill>
                <a:latin typeface="Noto Sans KR"/>
              </a:rPr>
              <a:t>자산:</a:t>
            </a:r>
            <a:r>
              <a:rPr b="0" sz="1275" i="0" u="none">
                <a:solidFill>
                  <a:srgbClr val="475569"/>
                </a:solidFill>
                <a:latin typeface="Noto Sans KR"/>
              </a:rPr>
              <a:t> 1억 800만 원 이하</a:t>
            </a:r>
            <a:r>
              <a:t>
</a:t>
            </a:r>
            <a:r>
              <a:rPr b="0" sz="1275" i="0" u="none">
                <a:solidFill>
                  <a:srgbClr val="475569"/>
                </a:solidFill>
                <a:latin typeface="Noto Sans KR"/>
              </a:rPr>
              <a:t> • </a:t>
            </a:r>
            <a:r>
              <a:rPr b="1" sz="1275" i="0" u="none">
                <a:solidFill>
                  <a:srgbClr val="475569"/>
                </a:solidFill>
                <a:latin typeface="Noto Sans KR"/>
              </a:rPr>
              <a:t>차량:</a:t>
            </a:r>
            <a:r>
              <a:rPr b="0" sz="1275" i="0" u="none">
                <a:solidFill>
                  <a:srgbClr val="475569"/>
                </a:solidFill>
                <a:latin typeface="Noto Sans KR"/>
              </a:rPr>
              <a:t> 소유 절대 불가</a:t>
            </a:r>
            <a:r>
              <a:t>
</a:t>
            </a:r>
            <a:r>
              <a:rPr b="0" sz="1275" i="0" u="none">
                <a:solidFill>
                  <a:srgbClr val="475569"/>
                </a:solidFill>
                <a:latin typeface="Noto Sans KR"/>
              </a:rPr>
              <a:t> • </a:t>
            </a:r>
            <a:r>
              <a:rPr b="1" sz="1275" i="0" u="none">
                <a:solidFill>
                  <a:srgbClr val="475569"/>
                </a:solidFill>
                <a:latin typeface="Noto Sans KR"/>
              </a:rPr>
              <a:t>임대료:</a:t>
            </a:r>
            <a:r>
              <a:rPr b="0" sz="1275" i="0" u="none">
                <a:solidFill>
                  <a:srgbClr val="475569"/>
                </a:solidFill>
                <a:latin typeface="Noto Sans KR"/>
              </a:rPr>
              <a:t> 시세 60~80% 수준</a:t>
            </a:r>
            <a:r>
              <a:t>
</a:t>
            </a:r>
            <a:r>
              <a:rPr b="0" sz="1275" i="0" u="none">
                <a:solidFill>
                  <a:srgbClr val="475569"/>
                </a:solidFill>
                <a:latin typeface="Noto Sans KR"/>
              </a:rPr>
              <a:t> • </a:t>
            </a:r>
            <a:r>
              <a:rPr b="1" sz="1275" i="0" u="none">
                <a:solidFill>
                  <a:srgbClr val="475569"/>
                </a:solidFill>
                <a:latin typeface="Noto Sans KR"/>
              </a:rPr>
              <a:t>거주기간:</a:t>
            </a:r>
            <a:r>
              <a:rPr b="0" sz="1275" i="0" u="none">
                <a:solidFill>
                  <a:srgbClr val="475569"/>
                </a:solidFill>
                <a:latin typeface="Noto Sans KR"/>
              </a:rPr>
              <a:t> 최대 10년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45074" y="3681412"/>
            <a:ext cx="748903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D4ED8"/>
                </a:solidFill>
                <a:latin typeface="Noto Sans KR"/>
              </a:rPr>
              <a:t>맞춤형 매입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49824" y="4424362"/>
            <a:ext cx="3187749" cy="971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475569"/>
                </a:solidFill>
                <a:latin typeface="Noto Sans KR"/>
              </a:rPr>
              <a:t>• </a:t>
            </a:r>
            <a:r>
              <a:rPr b="1" sz="1275" i="0" u="none">
                <a:solidFill>
                  <a:srgbClr val="475569"/>
                </a:solidFill>
                <a:latin typeface="Noto Sans KR"/>
              </a:rPr>
              <a:t>1순위:</a:t>
            </a:r>
            <a:r>
              <a:rPr b="0" sz="1275" i="0" u="none">
                <a:solidFill>
                  <a:srgbClr val="475569"/>
                </a:solidFill>
                <a:latin typeface="Noto Sans KR"/>
              </a:rPr>
              <a:t> 수급자·차상위 (시세 30%)</a:t>
            </a:r>
            <a:r>
              <a:t>
</a:t>
            </a:r>
            <a:r>
              <a:rPr b="0" sz="1275" i="0" u="none">
                <a:solidFill>
                  <a:srgbClr val="475569"/>
                </a:solidFill>
                <a:latin typeface="Noto Sans KR"/>
              </a:rPr>
              <a:t> • </a:t>
            </a:r>
            <a:r>
              <a:rPr b="1" sz="1275" i="0" u="none">
                <a:solidFill>
                  <a:srgbClr val="475569"/>
                </a:solidFill>
                <a:latin typeface="Noto Sans KR"/>
              </a:rPr>
              <a:t>2/3순위:</a:t>
            </a:r>
            <a:r>
              <a:rPr b="0" sz="1275" i="0" u="none">
                <a:solidFill>
                  <a:srgbClr val="475569"/>
                </a:solidFill>
                <a:latin typeface="Noto Sans KR"/>
              </a:rPr>
              <a:t> 소득 100% 이하 (시세 40~50%)</a:t>
            </a:r>
            <a:r>
              <a:t>
</a:t>
            </a:r>
            <a:r>
              <a:rPr b="0" sz="1275" i="0" u="none">
                <a:solidFill>
                  <a:srgbClr val="475569"/>
                </a:solidFill>
                <a:latin typeface="Noto Sans KR"/>
              </a:rPr>
              <a:t> • </a:t>
            </a:r>
            <a:r>
              <a:rPr b="1" sz="1275" i="0" u="none">
                <a:solidFill>
                  <a:srgbClr val="475569"/>
                </a:solidFill>
                <a:latin typeface="Noto Sans KR"/>
              </a:rPr>
              <a:t>차량가액:</a:t>
            </a:r>
            <a:r>
              <a:rPr b="0" sz="1275" i="0" u="none">
                <a:solidFill>
                  <a:srgbClr val="475569"/>
                </a:solidFill>
                <a:latin typeface="Noto Sans KR"/>
              </a:rPr>
              <a:t> 4,542만 원 이하</a:t>
            </a:r>
            <a:r>
              <a:t>
</a:t>
            </a:r>
            <a:r>
              <a:rPr b="0" sz="1275" i="0" u="none">
                <a:solidFill>
                  <a:srgbClr val="475569"/>
                </a:solidFill>
                <a:latin typeface="Noto Sans KR"/>
              </a:rPr>
              <a:t> • </a:t>
            </a:r>
            <a:r>
              <a:rPr b="1" sz="1275" i="0" u="none">
                <a:solidFill>
                  <a:srgbClr val="475569"/>
                </a:solidFill>
                <a:latin typeface="Noto Sans KR"/>
              </a:rPr>
              <a:t>거주기간:</a:t>
            </a:r>
            <a:r>
              <a:rPr b="0" sz="1275" i="0" u="none">
                <a:solidFill>
                  <a:srgbClr val="475569"/>
                </a:solidFill>
                <a:latin typeface="Noto Sans KR"/>
              </a:rPr>
              <a:t> 최장 10년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66224" y="3681412"/>
            <a:ext cx="625078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D4ED8"/>
                </a:solidFill>
                <a:latin typeface="Noto Sans KR"/>
              </a:rPr>
              <a:t>직접 물색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70974" y="4424362"/>
            <a:ext cx="3187749" cy="971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475569"/>
                </a:solidFill>
                <a:latin typeface="Noto Sans KR"/>
              </a:rPr>
              <a:t>• </a:t>
            </a:r>
            <a:r>
              <a:rPr b="1" sz="1275" i="0" u="none">
                <a:solidFill>
                  <a:srgbClr val="475569"/>
                </a:solidFill>
                <a:latin typeface="Noto Sans KR"/>
              </a:rPr>
              <a:t>보증금:</a:t>
            </a:r>
            <a:r>
              <a:rPr b="0" sz="1275" i="0" u="none">
                <a:solidFill>
                  <a:srgbClr val="475569"/>
                </a:solidFill>
                <a:latin typeface="Noto Sans KR"/>
              </a:rPr>
              <a:t> 100~200만 원 부담</a:t>
            </a:r>
            <a:r>
              <a:t>
</a:t>
            </a:r>
            <a:r>
              <a:rPr b="0" sz="1275" i="0" u="none">
                <a:solidFill>
                  <a:srgbClr val="475569"/>
                </a:solidFill>
                <a:latin typeface="Noto Sans KR"/>
              </a:rPr>
              <a:t> • </a:t>
            </a:r>
            <a:r>
              <a:rPr b="1" sz="1275" i="0" u="none">
                <a:solidFill>
                  <a:srgbClr val="475569"/>
                </a:solidFill>
                <a:latin typeface="Noto Sans KR"/>
              </a:rPr>
              <a:t>지원한도:</a:t>
            </a:r>
            <a:r>
              <a:rPr b="0" sz="1275" i="0" u="none">
                <a:solidFill>
                  <a:srgbClr val="475569"/>
                </a:solidFill>
                <a:latin typeface="Noto Sans KR"/>
              </a:rPr>
              <a:t> 수도권 최대 1.3억 원</a:t>
            </a:r>
            <a:r>
              <a:t>
</a:t>
            </a:r>
            <a:r>
              <a:rPr b="0" sz="1275" i="0" u="none">
                <a:solidFill>
                  <a:srgbClr val="475569"/>
                </a:solidFill>
                <a:latin typeface="Noto Sans KR"/>
              </a:rPr>
              <a:t> • </a:t>
            </a:r>
            <a:r>
              <a:rPr b="1" sz="1275" i="0" u="none">
                <a:solidFill>
                  <a:srgbClr val="475569"/>
                </a:solidFill>
                <a:latin typeface="Noto Sans KR"/>
              </a:rPr>
              <a:t>금리:</a:t>
            </a:r>
            <a:r>
              <a:rPr b="0" sz="1275" i="0" u="none">
                <a:solidFill>
                  <a:srgbClr val="475569"/>
                </a:solidFill>
                <a:latin typeface="Noto Sans KR"/>
              </a:rPr>
              <a:t> 연 1.2% ~ 2.2% 저리</a:t>
            </a:r>
            <a:r>
              <a:t>
</a:t>
            </a:r>
            <a:r>
              <a:rPr b="0" sz="1275" i="0" u="none">
                <a:solidFill>
                  <a:srgbClr val="475569"/>
                </a:solidFill>
                <a:latin typeface="Noto Sans KR"/>
              </a:rPr>
              <a:t> • </a:t>
            </a:r>
            <a:r>
              <a:rPr b="1" sz="1275" i="0" u="none">
                <a:solidFill>
                  <a:srgbClr val="475569"/>
                </a:solidFill>
                <a:latin typeface="Noto Sans KR"/>
              </a:rPr>
              <a:t>특혜:</a:t>
            </a:r>
            <a:r>
              <a:rPr b="0" sz="1275" i="0" u="none">
                <a:solidFill>
                  <a:srgbClr val="475569"/>
                </a:solidFill>
                <a:latin typeface="Noto Sans KR"/>
              </a:rPr>
              <a:t> 만 20세 이하 무이자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66825" y="4024312"/>
            <a:ext cx="9715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Noto Sans KR"/>
              </a:rPr>
              <a:t>행복주택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87974" y="4024312"/>
            <a:ext cx="1362223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Noto Sans KR"/>
              </a:rPr>
              <a:t>청년 매입임대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09124" y="4024312"/>
            <a:ext cx="1362223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Noto Sans KR"/>
              </a:rPr>
              <a:t>청년 전세임대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48475"/>
            <a:ext cx="12192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6096000"/>
            <a:ext cx="10972800" cy="2952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2233612"/>
            <a:ext cx="10972800" cy="119062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6096000"/>
            <a:ext cx="1097280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2233612"/>
            <a:ext cx="38100" cy="119062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09600" y="3652837"/>
            <a:ext cx="3530649" cy="1733550"/>
          </a:xfrm>
          <a:prstGeom prst="roundRect">
            <a:avLst>
              <a:gd name="adj" fmla="val 659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30749" y="3652837"/>
            <a:ext cx="3530649" cy="1733550"/>
          </a:xfrm>
          <a:prstGeom prst="roundRect">
            <a:avLst>
              <a:gd name="adj" fmla="val 659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051899" y="3652837"/>
            <a:ext cx="3530649" cy="1733550"/>
          </a:xfrm>
          <a:prstGeom prst="roundRect">
            <a:avLst>
              <a:gd name="adj" fmla="val 659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9600" y="5376862"/>
            <a:ext cx="353064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9600" y="3652837"/>
            <a:ext cx="3530649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00" y="3652837"/>
            <a:ext cx="9525" cy="17335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30724" y="3652837"/>
            <a:ext cx="9525" cy="17335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30749" y="5376862"/>
            <a:ext cx="353064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30749" y="3652837"/>
            <a:ext cx="3530649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30749" y="3652837"/>
            <a:ext cx="9525" cy="17335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851874" y="3652837"/>
            <a:ext cx="9525" cy="17335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51899" y="5376862"/>
            <a:ext cx="353064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1899" y="3652837"/>
            <a:ext cx="3530649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51899" y="3652837"/>
            <a:ext cx="9525" cy="17335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573023" y="3652837"/>
            <a:ext cx="9525" cy="17335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476250"/>
            <a:ext cx="110430" cy="13335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6243637"/>
            <a:ext cx="96440" cy="12382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2414587"/>
            <a:ext cx="103733" cy="1524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2728912"/>
            <a:ext cx="103733" cy="15240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3043237"/>
            <a:ext cx="103733" cy="1524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96230" y="457200"/>
            <a:ext cx="11395769" cy="1714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Noto Sans KR"/>
              </a:rPr>
              <a:t>현금 지원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9600" y="685800"/>
            <a:ext cx="11582400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1" sz="2250" i="0" u="none">
                <a:solidFill>
                  <a:srgbClr val="0F172A"/>
                </a:solidFill>
                <a:latin typeface="Noto Sans KR"/>
              </a:rPr>
              <a:t>대학생 주거비 현금 지원 3대 제도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9600" y="1066800"/>
            <a:ext cx="115824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Noto Sans KR"/>
              </a:rPr>
              <a:t>민간 전·월세에 거주하는 대학생의 고정 지출 부담을 직접 완화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3190" y="6219825"/>
            <a:ext cx="4278138" cy="1714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0" sz="975" i="0" u="none">
                <a:solidFill>
                  <a:srgbClr val="0F172A"/>
                </a:solidFill>
                <a:latin typeface="Noto Sans KR"/>
              </a:rPr>
              <a:t>출처: 국토교통부, 보건복지부, 한국장학재단 공고 종합 (2026)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32802" y="6238875"/>
            <a:ext cx="635347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2563EB"/>
                </a:solidFill>
                <a:latin typeface="Noto Sans KR"/>
              </a:rPr>
              <a:t>04 / 08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7183" y="2386012"/>
            <a:ext cx="11154816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1E293B"/>
                </a:solidFill>
                <a:latin typeface="Noto Sans KR"/>
              </a:rPr>
              <a:t>청년월세 특별지원:</a:t>
            </a:r>
            <a:r>
              <a:rPr b="0" sz="1350" i="0" u="none">
                <a:solidFill>
                  <a:srgbClr val="1E293B"/>
                </a:solidFill>
                <a:latin typeface="Noto Sans KR"/>
              </a:rPr>
              <a:t> 중위소득 60% 이하 대상 월 최대 20만 원 (최대 24개월/480만 원)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7183" y="2700337"/>
            <a:ext cx="11154816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1E293B"/>
                </a:solidFill>
                <a:latin typeface="Noto Sans KR"/>
              </a:rPr>
              <a:t>청년 주거급여 분리지급:</a:t>
            </a:r>
            <a:r>
              <a:rPr b="0" sz="1350" i="0" u="none">
                <a:solidFill>
                  <a:srgbClr val="1E293B"/>
                </a:solidFill>
                <a:latin typeface="Noto Sans KR"/>
              </a:rPr>
              <a:t> 타지 거주 자녀 대상 지역별 월 18만~35만 원 차등 현금 지급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7183" y="3014662"/>
            <a:ext cx="11154816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1E293B"/>
                </a:solidFill>
                <a:latin typeface="Noto Sans KR"/>
              </a:rPr>
              <a:t>주거안정장학금:</a:t>
            </a:r>
            <a:r>
              <a:rPr b="0" sz="1350" i="0" u="none">
                <a:solidFill>
                  <a:srgbClr val="1E293B"/>
                </a:solidFill>
                <a:latin typeface="Noto Sans KR"/>
              </a:rPr>
              <a:t> 기초·차상위 원거리 진학 대학생 대상 연 최대 240만 원 지원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8675" y="3890962"/>
            <a:ext cx="3865624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2563EB"/>
                </a:solidFill>
                <a:latin typeface="Noto Sans KR"/>
              </a:rPr>
              <a:t>청년월세 특별지원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8675" y="4195762"/>
            <a:ext cx="3187749" cy="971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475569"/>
                </a:solidFill>
                <a:latin typeface="Noto Sans KR"/>
              </a:rPr>
              <a:t>• </a:t>
            </a:r>
            <a:r>
              <a:rPr b="1" sz="1275" i="0" u="none">
                <a:solidFill>
                  <a:srgbClr val="475569"/>
                </a:solidFill>
                <a:latin typeface="Noto Sans KR"/>
              </a:rPr>
              <a:t>소득:</a:t>
            </a:r>
            <a:r>
              <a:rPr b="0" sz="1275" i="0" u="none">
                <a:solidFill>
                  <a:srgbClr val="475569"/>
                </a:solidFill>
                <a:latin typeface="Noto Sans KR"/>
              </a:rPr>
              <a:t> 중위소득 60% 이하</a:t>
            </a:r>
            <a:r>
              <a:t>
</a:t>
            </a:r>
            <a:r>
              <a:rPr b="0" sz="1275" i="0" u="none">
                <a:solidFill>
                  <a:srgbClr val="475569"/>
                </a:solidFill>
                <a:latin typeface="Noto Sans KR"/>
              </a:rPr>
              <a:t> • </a:t>
            </a:r>
            <a:r>
              <a:rPr b="1" sz="1275" i="0" u="none">
                <a:solidFill>
                  <a:srgbClr val="475569"/>
                </a:solidFill>
                <a:latin typeface="Noto Sans KR"/>
              </a:rPr>
              <a:t>방식:</a:t>
            </a:r>
            <a:r>
              <a:rPr b="0" sz="1275" i="0" u="none">
                <a:solidFill>
                  <a:srgbClr val="475569"/>
                </a:solidFill>
                <a:latin typeface="Noto Sans KR"/>
              </a:rPr>
              <a:t> 2026년부터 연중 상시 신청</a:t>
            </a:r>
            <a:r>
              <a:t>
</a:t>
            </a:r>
            <a:r>
              <a:rPr b="0" sz="1275" i="0" u="none">
                <a:solidFill>
                  <a:srgbClr val="475569"/>
                </a:solidFill>
                <a:latin typeface="Noto Sans KR"/>
              </a:rPr>
              <a:t> • </a:t>
            </a:r>
            <a:r>
              <a:rPr b="1" sz="1275" i="0" u="none">
                <a:solidFill>
                  <a:srgbClr val="475569"/>
                </a:solidFill>
                <a:latin typeface="Noto Sans KR"/>
              </a:rPr>
              <a:t>지원:</a:t>
            </a:r>
            <a:r>
              <a:rPr b="0" sz="1275" i="0" u="none">
                <a:solidFill>
                  <a:srgbClr val="475569"/>
                </a:solidFill>
                <a:latin typeface="Noto Sans KR"/>
              </a:rPr>
              <a:t> 월 최대 20만 원 (24개월)</a:t>
            </a:r>
            <a:r>
              <a:t>
</a:t>
            </a:r>
            <a:r>
              <a:rPr b="0" sz="1275" i="0" u="none">
                <a:solidFill>
                  <a:srgbClr val="475569"/>
                </a:solidFill>
                <a:latin typeface="Noto Sans KR"/>
              </a:rPr>
              <a:t> • </a:t>
            </a:r>
            <a:r>
              <a:rPr b="1" sz="1275" i="0" u="none">
                <a:solidFill>
                  <a:srgbClr val="475569"/>
                </a:solidFill>
                <a:latin typeface="Noto Sans KR"/>
              </a:rPr>
              <a:t>주관:</a:t>
            </a:r>
            <a:r>
              <a:rPr b="0" sz="1275" i="0" u="none">
                <a:solidFill>
                  <a:srgbClr val="475569"/>
                </a:solidFill>
                <a:latin typeface="Noto Sans KR"/>
              </a:rPr>
              <a:t> 국토교통부·지자체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49824" y="3890962"/>
            <a:ext cx="3865624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2563EB"/>
                </a:solidFill>
                <a:latin typeface="Noto Sans KR"/>
              </a:rPr>
              <a:t>주거급여 분리지급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49824" y="4195762"/>
            <a:ext cx="3187749" cy="971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475569"/>
                </a:solidFill>
                <a:latin typeface="Noto Sans KR"/>
              </a:rPr>
              <a:t>• </a:t>
            </a:r>
            <a:r>
              <a:rPr b="1" sz="1275" i="0" u="none">
                <a:solidFill>
                  <a:srgbClr val="475569"/>
                </a:solidFill>
                <a:latin typeface="Noto Sans KR"/>
              </a:rPr>
              <a:t>소득:</a:t>
            </a:r>
            <a:r>
              <a:rPr b="0" sz="1275" i="0" u="none">
                <a:solidFill>
                  <a:srgbClr val="475569"/>
                </a:solidFill>
                <a:latin typeface="Noto Sans KR"/>
              </a:rPr>
              <a:t> 중위소득 48% 이하 가구</a:t>
            </a:r>
            <a:r>
              <a:t>
</a:t>
            </a:r>
            <a:r>
              <a:rPr b="0" sz="1275" i="0" u="none">
                <a:solidFill>
                  <a:srgbClr val="475569"/>
                </a:solidFill>
                <a:latin typeface="Noto Sans KR"/>
              </a:rPr>
              <a:t> • </a:t>
            </a:r>
            <a:r>
              <a:rPr b="1" sz="1275" i="0" u="none">
                <a:solidFill>
                  <a:srgbClr val="475569"/>
                </a:solidFill>
                <a:latin typeface="Noto Sans KR"/>
              </a:rPr>
              <a:t>조건:</a:t>
            </a:r>
            <a:r>
              <a:rPr b="0" sz="1275" i="0" u="none">
                <a:solidFill>
                  <a:srgbClr val="475569"/>
                </a:solidFill>
                <a:latin typeface="Noto Sans KR"/>
              </a:rPr>
              <a:t> 부모와 다른 시·군 거주</a:t>
            </a:r>
            <a:r>
              <a:t>
</a:t>
            </a:r>
            <a:r>
              <a:rPr b="0" sz="1275" i="0" u="none">
                <a:solidFill>
                  <a:srgbClr val="475569"/>
                </a:solidFill>
                <a:latin typeface="Noto Sans KR"/>
              </a:rPr>
              <a:t> • </a:t>
            </a:r>
            <a:r>
              <a:rPr b="1" sz="1275" i="0" u="none">
                <a:solidFill>
                  <a:srgbClr val="475569"/>
                </a:solidFill>
                <a:latin typeface="Noto Sans KR"/>
              </a:rPr>
              <a:t>지원:</a:t>
            </a:r>
            <a:r>
              <a:rPr b="0" sz="1275" i="0" u="none">
                <a:solidFill>
                  <a:srgbClr val="475569"/>
                </a:solidFill>
                <a:latin typeface="Noto Sans KR"/>
              </a:rPr>
              <a:t> 서울 35만, 경기 28만 원 등</a:t>
            </a:r>
            <a:r>
              <a:t>
</a:t>
            </a:r>
            <a:r>
              <a:rPr b="0" sz="1275" i="0" u="none">
                <a:solidFill>
                  <a:srgbClr val="475569"/>
                </a:solidFill>
                <a:latin typeface="Noto Sans KR"/>
              </a:rPr>
              <a:t> • </a:t>
            </a:r>
            <a:r>
              <a:rPr b="1" sz="1275" i="0" u="none">
                <a:solidFill>
                  <a:srgbClr val="475569"/>
                </a:solidFill>
                <a:latin typeface="Noto Sans KR"/>
              </a:rPr>
              <a:t>주관:</a:t>
            </a:r>
            <a:r>
              <a:rPr b="0" sz="1275" i="0" u="none">
                <a:solidFill>
                  <a:srgbClr val="475569"/>
                </a:solidFill>
                <a:latin typeface="Noto Sans KR"/>
              </a:rPr>
              <a:t> 보건복지부·국토부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70974" y="3890962"/>
            <a:ext cx="3865624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2563EB"/>
                </a:solidFill>
                <a:latin typeface="Noto Sans KR"/>
              </a:rPr>
              <a:t>주거안정장학금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70974" y="4195762"/>
            <a:ext cx="3187749" cy="971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475569"/>
                </a:solidFill>
                <a:latin typeface="Noto Sans KR"/>
              </a:rPr>
              <a:t>• </a:t>
            </a:r>
            <a:r>
              <a:rPr b="1" sz="1275" i="0" u="none">
                <a:solidFill>
                  <a:srgbClr val="475569"/>
                </a:solidFill>
                <a:latin typeface="Noto Sans KR"/>
              </a:rPr>
              <a:t>대상:</a:t>
            </a:r>
            <a:r>
              <a:rPr b="0" sz="1275" i="0" u="none">
                <a:solidFill>
                  <a:srgbClr val="475569"/>
                </a:solidFill>
                <a:latin typeface="Noto Sans KR"/>
              </a:rPr>
              <a:t> 기초·차상위 원거리 대학생</a:t>
            </a:r>
            <a:r>
              <a:t>
</a:t>
            </a:r>
            <a:r>
              <a:rPr b="0" sz="1275" i="0" u="none">
                <a:solidFill>
                  <a:srgbClr val="475569"/>
                </a:solidFill>
                <a:latin typeface="Noto Sans KR"/>
              </a:rPr>
              <a:t> • </a:t>
            </a:r>
            <a:r>
              <a:rPr b="1" sz="1275" i="0" u="none">
                <a:solidFill>
                  <a:srgbClr val="475569"/>
                </a:solidFill>
                <a:latin typeface="Noto Sans KR"/>
              </a:rPr>
              <a:t>인정:</a:t>
            </a:r>
            <a:r>
              <a:rPr b="0" sz="1275" i="0" u="none">
                <a:solidFill>
                  <a:srgbClr val="475569"/>
                </a:solidFill>
                <a:latin typeface="Noto Sans KR"/>
              </a:rPr>
              <a:t> 월세/기숙사비/수도광열비</a:t>
            </a:r>
            <a:r>
              <a:t>
</a:t>
            </a:r>
            <a:r>
              <a:rPr b="0" sz="1275" i="0" u="none">
                <a:solidFill>
                  <a:srgbClr val="475569"/>
                </a:solidFill>
                <a:latin typeface="Noto Sans KR"/>
              </a:rPr>
              <a:t> • </a:t>
            </a:r>
            <a:r>
              <a:rPr b="1" sz="1275" i="0" u="none">
                <a:solidFill>
                  <a:srgbClr val="475569"/>
                </a:solidFill>
                <a:latin typeface="Noto Sans KR"/>
              </a:rPr>
              <a:t>지원:</a:t>
            </a:r>
            <a:r>
              <a:rPr b="0" sz="1275" i="0" u="none">
                <a:solidFill>
                  <a:srgbClr val="475569"/>
                </a:solidFill>
                <a:latin typeface="Noto Sans KR"/>
              </a:rPr>
              <a:t> 월 최대 20만 원 (연 240만)</a:t>
            </a:r>
            <a:r>
              <a:t>
</a:t>
            </a:r>
            <a:r>
              <a:rPr b="0" sz="1275" i="0" u="none">
                <a:solidFill>
                  <a:srgbClr val="475569"/>
                </a:solidFill>
                <a:latin typeface="Noto Sans KR"/>
              </a:rPr>
              <a:t> • </a:t>
            </a:r>
            <a:r>
              <a:rPr b="1" sz="1275" i="0" u="none">
                <a:solidFill>
                  <a:srgbClr val="475569"/>
                </a:solidFill>
                <a:latin typeface="Noto Sans KR"/>
              </a:rPr>
              <a:t>주관:</a:t>
            </a:r>
            <a:r>
              <a:rPr b="0" sz="1275" i="0" u="none">
                <a:solidFill>
                  <a:srgbClr val="475569"/>
                </a:solidFill>
                <a:latin typeface="Noto Sans KR"/>
              </a:rPr>
              <a:t> 한국장학재단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48475"/>
            <a:ext cx="12192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6096000"/>
            <a:ext cx="10972800" cy="2952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2314575"/>
            <a:ext cx="10972800" cy="119062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6096000"/>
            <a:ext cx="1097280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2314575"/>
            <a:ext cx="38100" cy="119062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09600" y="3733800"/>
            <a:ext cx="5391150" cy="1571625"/>
          </a:xfrm>
          <a:prstGeom prst="roundRect">
            <a:avLst>
              <a:gd name="adj" fmla="val 7272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91250" y="3733800"/>
            <a:ext cx="5391150" cy="1571625"/>
          </a:xfrm>
          <a:prstGeom prst="roundRect">
            <a:avLst>
              <a:gd name="adj" fmla="val 7272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476250"/>
            <a:ext cx="110430" cy="1333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6243637"/>
            <a:ext cx="96440" cy="1238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2495550"/>
            <a:ext cx="103733" cy="1524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2809875"/>
            <a:ext cx="103733" cy="1524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3124200"/>
            <a:ext cx="103733" cy="1524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6230" y="457200"/>
            <a:ext cx="11395769" cy="1714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Noto Sans KR"/>
              </a:rPr>
              <a:t>금융 지원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685800"/>
            <a:ext cx="11582400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1" sz="2250" i="0" u="none">
                <a:solidFill>
                  <a:srgbClr val="0F172A"/>
                </a:solidFill>
                <a:latin typeface="Noto Sans KR"/>
              </a:rPr>
              <a:t>2026 청년전용 버팀목 전세자금대출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1066800"/>
            <a:ext cx="115824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Noto Sans KR"/>
              </a:rPr>
              <a:t>소득 및 자산 요건 대폭 완화로 대학생 및 청년 접근성 강화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3190" y="6219825"/>
            <a:ext cx="2609961" cy="1714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0" sz="975" i="0" u="none">
                <a:solidFill>
                  <a:srgbClr val="0F172A"/>
                </a:solidFill>
                <a:latin typeface="Noto Sans KR"/>
              </a:rPr>
              <a:t>출처: 주택도시기금 2026년 개편 기준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32802" y="6238875"/>
            <a:ext cx="635347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2563EB"/>
                </a:solidFill>
                <a:latin typeface="Noto Sans KR"/>
              </a:rPr>
              <a:t>05 / 08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7183" y="2466975"/>
            <a:ext cx="11154816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1E293B"/>
                </a:solidFill>
                <a:latin typeface="Noto Sans KR"/>
              </a:rPr>
              <a:t>자격 완화:</a:t>
            </a:r>
            <a:r>
              <a:rPr b="0" sz="1350" i="0" u="none">
                <a:solidFill>
                  <a:srgbClr val="1E293B"/>
                </a:solidFill>
                <a:latin typeface="Noto Sans KR"/>
              </a:rPr>
              <a:t> 연 소득 5,000만 원 이하, 순자산 3.45억 원 이하 무주택 세대주 지원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7183" y="2781300"/>
            <a:ext cx="11154816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1E293B"/>
                </a:solidFill>
                <a:latin typeface="Noto Sans KR"/>
              </a:rPr>
              <a:t>대출 한도:</a:t>
            </a:r>
            <a:r>
              <a:rPr b="0" sz="1350" i="0" u="none">
                <a:solidFill>
                  <a:srgbClr val="1E293B"/>
                </a:solidFill>
                <a:latin typeface="Noto Sans KR"/>
              </a:rPr>
              <a:t> 최대 2억 원 한도 (단, 만 25세 미만 단독세대주는 최대 1.5억 원)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7183" y="3095625"/>
            <a:ext cx="11154816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1E293B"/>
                </a:solidFill>
                <a:latin typeface="Noto Sans KR"/>
              </a:rPr>
              <a:t>초저금리:</a:t>
            </a:r>
            <a:r>
              <a:rPr b="0" sz="1350" i="0" u="none">
                <a:solidFill>
                  <a:srgbClr val="1E293B"/>
                </a:solidFill>
                <a:latin typeface="Noto Sans KR"/>
              </a:rPr>
              <a:t> 연 2.0% ~ 3.1% 금리 적용 (우대금리 적용 시 최저 연 1.0% 가능)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3362" y="3971925"/>
            <a:ext cx="61436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1E40AF"/>
                </a:solidFill>
                <a:latin typeface="Noto Sans KR"/>
              </a:rPr>
              <a:t>대출 한도 (보증금 80% 이내)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3362" y="4248150"/>
            <a:ext cx="6143625" cy="561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300" i="0" u="none">
                <a:solidFill>
                  <a:srgbClr val="2563EB"/>
                </a:solidFill>
                <a:latin typeface="Noto Sans KR"/>
              </a:rPr>
              <a:t>최대 2억 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3362" y="4886325"/>
            <a:ext cx="614362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3B82F6"/>
                </a:solidFill>
                <a:latin typeface="Noto Sans KR"/>
              </a:rPr>
              <a:t>(만 25세 미만 단독세대주 1.5억 원)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15012" y="3971925"/>
            <a:ext cx="61436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1E40AF"/>
                </a:solidFill>
                <a:latin typeface="Noto Sans KR"/>
              </a:rPr>
              <a:t>적용 금리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15012" y="4248150"/>
            <a:ext cx="6143625" cy="561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300" i="0" u="none">
                <a:solidFill>
                  <a:srgbClr val="2563EB"/>
                </a:solidFill>
                <a:latin typeface="Noto Sans KR"/>
              </a:rPr>
              <a:t>연 2.0 ~ 3.1%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15012" y="4886325"/>
            <a:ext cx="614362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3B82F6"/>
                </a:solidFill>
                <a:latin typeface="Noto Sans KR"/>
              </a:rPr>
              <a:t>(우대 적용 시 최저 연 1.0%)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48475"/>
            <a:ext cx="12192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6096000"/>
            <a:ext cx="10972800" cy="2952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2243137"/>
            <a:ext cx="10972800" cy="119062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6096000"/>
            <a:ext cx="1097280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2243137"/>
            <a:ext cx="38100" cy="119062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732264" y="3738562"/>
            <a:ext cx="5850135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732264" y="4576762"/>
            <a:ext cx="5850135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476250"/>
            <a:ext cx="110430" cy="1333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3662362"/>
            <a:ext cx="4894064" cy="17145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6243637"/>
            <a:ext cx="96440" cy="1238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125" y="3671887"/>
            <a:ext cx="4875014" cy="16954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200" y="2424112"/>
            <a:ext cx="103733" cy="1524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200" y="2738437"/>
            <a:ext cx="103733" cy="1524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200" y="3052762"/>
            <a:ext cx="103733" cy="1524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96230" y="457200"/>
            <a:ext cx="11395769" cy="1714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Noto Sans KR"/>
              </a:rPr>
              <a:t>지자체 특화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685800"/>
            <a:ext cx="11582400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1" sz="2250" i="0" u="none">
                <a:solidFill>
                  <a:srgbClr val="0F172A"/>
                </a:solidFill>
                <a:latin typeface="Noto Sans KR"/>
              </a:rPr>
              <a:t>지자체 밀착형 청년 주거 지원 사례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1066800"/>
            <a:ext cx="115824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Noto Sans KR"/>
              </a:rPr>
              <a:t>경기도 및 성남시 등 지자체 자체 예산 연계 안심 서비스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3190" y="6219825"/>
            <a:ext cx="4475894" cy="1714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0" sz="975" i="0" u="none">
                <a:solidFill>
                  <a:srgbClr val="0F172A"/>
                </a:solidFill>
                <a:latin typeface="Noto Sans KR"/>
              </a:rPr>
              <a:t>출처: 경기주택도시공사(GH) &amp; 성남시 청년지원센터 공고 (2026)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32802" y="6238875"/>
            <a:ext cx="635347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2563EB"/>
                </a:solidFill>
                <a:latin typeface="Noto Sans KR"/>
              </a:rPr>
              <a:t>06 / 08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7183" y="2395537"/>
            <a:ext cx="11154816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1E293B"/>
                </a:solidFill>
                <a:latin typeface="Noto Sans KR"/>
              </a:rPr>
              <a:t>GH 청년주택:</a:t>
            </a:r>
            <a:r>
              <a:rPr b="0" sz="1350" i="0" u="none">
                <a:solidFill>
                  <a:srgbClr val="1E293B"/>
                </a:solidFill>
                <a:latin typeface="Noto Sans KR"/>
              </a:rPr>
              <a:t> 경기행복주택 및 돌봄·일자리 결합 GH 특화형 매입임대 지속 공급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7183" y="2709862"/>
            <a:ext cx="11154816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1E293B"/>
                </a:solidFill>
                <a:latin typeface="Noto Sans KR"/>
              </a:rPr>
              <a:t>성남시 주거비 지원:</a:t>
            </a:r>
            <a:r>
              <a:rPr b="0" sz="1350" i="0" u="none">
                <a:solidFill>
                  <a:srgbClr val="1E293B"/>
                </a:solidFill>
                <a:latin typeface="Noto Sans KR"/>
              </a:rPr>
              <a:t> 이사비·중개비 최대 40만 원 + 전월세 이자/임차료 월 20만 원 지원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7183" y="3024187"/>
            <a:ext cx="11154816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1E293B"/>
                </a:solidFill>
                <a:latin typeface="Noto Sans KR"/>
              </a:rPr>
              <a:t>안심계약 서비스:</a:t>
            </a:r>
            <a:r>
              <a:rPr b="0" sz="1350" i="0" u="none">
                <a:solidFill>
                  <a:srgbClr val="1E293B"/>
                </a:solidFill>
                <a:latin typeface="Noto Sans KR"/>
              </a:rPr>
              <a:t> 전문 공인중개사의 1:1 계약 점검 및 집보기 동행 서비스 무료 제공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03714" y="3871912"/>
            <a:ext cx="560248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2563EB"/>
                </a:solidFill>
                <a:latin typeface="Noto Sans KR"/>
              </a:rPr>
              <a:t>성남시 취업청년 지원 패키지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03714" y="4710112"/>
            <a:ext cx="560248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2563EB"/>
                </a:solidFill>
                <a:latin typeface="Noto Sans KR"/>
              </a:rPr>
              <a:t>전·월세 안심계약 도움서비스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13239" y="4138612"/>
            <a:ext cx="627876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Noto Sans KR"/>
              </a:rPr>
              <a:t>아르바이트 단기 소득 증빙 대학생 포함, 전월세 및 이사비 지원 확대 (1,050명 대상)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13239" y="4976812"/>
            <a:ext cx="627876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Noto Sans KR"/>
              </a:rPr>
              <a:t>부동산 경험 부족 청년을 위한 등기부등본 점검 및 전세사기 예방 1:1 밀착 컨설팅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48475"/>
            <a:ext cx="12192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6096000"/>
            <a:ext cx="10972800" cy="2952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2352675"/>
            <a:ext cx="10972800" cy="119062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6096000"/>
            <a:ext cx="1097280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2352675"/>
            <a:ext cx="38100" cy="119062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09600" y="3771900"/>
            <a:ext cx="3555950" cy="1495425"/>
          </a:xfrm>
          <a:prstGeom prst="roundRect">
            <a:avLst>
              <a:gd name="adj" fmla="val 7643"/>
            </a:avLst>
          </a:prstGeom>
          <a:solidFill>
            <a:srgbClr val="F8FAFC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17950" y="3771900"/>
            <a:ext cx="3555950" cy="1495425"/>
          </a:xfrm>
          <a:prstGeom prst="roundRect">
            <a:avLst>
              <a:gd name="adj" fmla="val 7643"/>
            </a:avLst>
          </a:prstGeom>
          <a:solidFill>
            <a:srgbClr val="F8FAFC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026300" y="3771900"/>
            <a:ext cx="3555950" cy="1495425"/>
          </a:xfrm>
          <a:prstGeom prst="roundRect">
            <a:avLst>
              <a:gd name="adj" fmla="val 7643"/>
            </a:avLst>
          </a:prstGeom>
          <a:solidFill>
            <a:srgbClr val="F8FAFC"/>
          </a:solidFill>
          <a:ln w="1905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235100" y="398145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943451" y="398145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651801" y="398145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476250"/>
            <a:ext cx="110430" cy="1333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6243637"/>
            <a:ext cx="96440" cy="12382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2533650"/>
            <a:ext cx="103733" cy="1524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2847975"/>
            <a:ext cx="103733" cy="1524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3162300"/>
            <a:ext cx="103733" cy="1524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96230" y="457200"/>
            <a:ext cx="11395769" cy="1714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Noto Sans KR"/>
              </a:rPr>
              <a:t>실전 가이드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685800"/>
            <a:ext cx="11582400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1" sz="2250" i="0" u="none">
                <a:solidFill>
                  <a:srgbClr val="0F172A"/>
                </a:solidFill>
                <a:latin typeface="Noto Sans KR"/>
              </a:rPr>
              <a:t>대학생 맞춤형 주거지원 3단계 활용 전략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0" y="1066800"/>
            <a:ext cx="115824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Noto Sans KR"/>
              </a:rPr>
              <a:t>자격 확인부터 계약 안심 서비스까지 체계적 접근 체계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3190" y="6219825"/>
            <a:ext cx="3048632" cy="1714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0" sz="975" i="0" u="none">
                <a:solidFill>
                  <a:srgbClr val="0F172A"/>
                </a:solidFill>
                <a:latin typeface="Noto Sans KR"/>
              </a:rPr>
              <a:t>출처: 2026 청년 주거 정책 종합 분석 보고서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32802" y="6238875"/>
            <a:ext cx="635347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2563EB"/>
                </a:solidFill>
                <a:latin typeface="Noto Sans KR"/>
              </a:rPr>
              <a:t>07 / 08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7183" y="2505075"/>
            <a:ext cx="11154816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1E293B"/>
                </a:solidFill>
                <a:latin typeface="Noto Sans KR"/>
              </a:rPr>
              <a:t>1단계 (진단):</a:t>
            </a:r>
            <a:r>
              <a:rPr b="0" sz="1350" i="0" u="none">
                <a:solidFill>
                  <a:srgbClr val="1E293B"/>
                </a:solidFill>
                <a:latin typeface="Noto Sans KR"/>
              </a:rPr>
              <a:t> 본인 및 부모 소득·자산 구간 확인 후 최적의 1차 지원책 선정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7183" y="2819400"/>
            <a:ext cx="11154816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1E293B"/>
                </a:solidFill>
                <a:latin typeface="Noto Sans KR"/>
              </a:rPr>
              <a:t>2단계 (신청):</a:t>
            </a:r>
            <a:r>
              <a:rPr b="0" sz="1350" i="0" u="none">
                <a:solidFill>
                  <a:srgbClr val="1E293B"/>
                </a:solidFill>
                <a:latin typeface="Noto Sans KR"/>
              </a:rPr>
              <a:t> LH 청약플러스 알림 설정 및 청년 버팀목 대출 금리 조건 비교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7183" y="3133725"/>
            <a:ext cx="11154816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1E293B"/>
                </a:solidFill>
                <a:latin typeface="Noto Sans KR"/>
              </a:rPr>
              <a:t>3단계 (결합):</a:t>
            </a:r>
            <a:r>
              <a:rPr b="0" sz="1350" i="0" u="none">
                <a:solidFill>
                  <a:srgbClr val="1E293B"/>
                </a:solidFill>
                <a:latin typeface="Noto Sans KR"/>
              </a:rPr>
              <a:t> 지자체 이사비 지원 및 전·월세 안심계약 동행 서비스 활용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92225" y="3981450"/>
            <a:ext cx="59055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Noto Sans KR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7043" y="4381500"/>
            <a:ext cx="3921062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75" i="0" u="none">
                <a:solidFill>
                  <a:srgbClr val="0F172A"/>
                </a:solidFill>
                <a:latin typeface="Noto Sans KR"/>
              </a:rPr>
              <a:t>소득·자산 진단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7043" y="4657725"/>
            <a:ext cx="3921062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b="0" sz="1125" i="0" u="none">
                <a:solidFill>
                  <a:srgbClr val="64748B"/>
                </a:solidFill>
                <a:latin typeface="Noto Sans KR"/>
              </a:rPr>
              <a:t>기초·차상위/중위소득 구간 검토 후 장학금 또는 월세 보조금 선점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00576" y="3981450"/>
            <a:ext cx="59055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Noto Sans KR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35394" y="4381500"/>
            <a:ext cx="3921062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75" i="0" u="none">
                <a:solidFill>
                  <a:srgbClr val="0F172A"/>
                </a:solidFill>
                <a:latin typeface="Noto Sans KR"/>
              </a:rPr>
              <a:t>주택·금융 연계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35394" y="4657725"/>
            <a:ext cx="3921062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b="0" sz="1125" i="0" u="none">
                <a:solidFill>
                  <a:srgbClr val="64748B"/>
                </a:solidFill>
                <a:latin typeface="Noto Sans KR"/>
              </a:rPr>
              <a:t>행복주택/매입임대 공고 주시, 민간 전세 시 버팀목 대출 활용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08926" y="3981450"/>
            <a:ext cx="59055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F8FAFC"/>
                </a:solidFill>
                <a:latin typeface="Noto Sans KR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43744" y="4381500"/>
            <a:ext cx="3921062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75" i="0" u="none">
                <a:solidFill>
                  <a:srgbClr val="0F172A"/>
                </a:solidFill>
                <a:latin typeface="Noto Sans KR"/>
              </a:rPr>
              <a:t>지자체 혜택 결합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43744" y="4657725"/>
            <a:ext cx="3921062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b="0" sz="1125" i="0" u="none">
                <a:solidFill>
                  <a:srgbClr val="64748B"/>
                </a:solidFill>
                <a:latin typeface="Noto Sans KR"/>
              </a:rPr>
              <a:t>성남시 등 이사비 지원금 신청 및 안심매니저 계약 점검 동행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48475"/>
            <a:ext cx="12192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6096000"/>
            <a:ext cx="10972800" cy="2952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2257425"/>
            <a:ext cx="10972800" cy="1190625"/>
          </a:xfrm>
          <a:prstGeom prst="rect">
            <a:avLst/>
          </a:prstGeom>
          <a:solidFill>
            <a:srgbClr val="FF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6096000"/>
            <a:ext cx="1097280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2257425"/>
            <a:ext cx="38100" cy="1190625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09600" y="3676650"/>
            <a:ext cx="10972800" cy="485775"/>
          </a:xfrm>
          <a:prstGeom prst="roundRect">
            <a:avLst>
              <a:gd name="adj" fmla="val 1568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09600" y="4276725"/>
            <a:ext cx="10972800" cy="485775"/>
          </a:xfrm>
          <a:prstGeom prst="roundRect">
            <a:avLst>
              <a:gd name="adj" fmla="val 1568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09600" y="4876800"/>
            <a:ext cx="10972800" cy="485775"/>
          </a:xfrm>
          <a:prstGeom prst="roundRect">
            <a:avLst>
              <a:gd name="adj" fmla="val 1568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476250"/>
            <a:ext cx="110430" cy="1333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6243637"/>
            <a:ext cx="96440" cy="1238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625" y="3838575"/>
            <a:ext cx="118616" cy="1524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25" y="4438650"/>
            <a:ext cx="118616" cy="1524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625" y="5038725"/>
            <a:ext cx="118616" cy="1524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8200" y="2438400"/>
            <a:ext cx="44499" cy="1524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8200" y="2752725"/>
            <a:ext cx="44499" cy="1524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8200" y="3067050"/>
            <a:ext cx="44499" cy="1524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96230" y="457200"/>
            <a:ext cx="11395769" cy="1714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050" i="0" u="none">
                <a:solidFill>
                  <a:srgbClr val="DC2626"/>
                </a:solidFill>
                <a:latin typeface="Noto Sans KR"/>
              </a:rPr>
              <a:t>필수 점검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685800"/>
            <a:ext cx="11582400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1" sz="2250" i="0" u="none">
                <a:solidFill>
                  <a:srgbClr val="0F172A"/>
                </a:solidFill>
                <a:latin typeface="Noto Sans KR"/>
              </a:rPr>
              <a:t>직접 확인이 필요한 항목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0" y="1066800"/>
            <a:ext cx="115824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Noto Sans KR"/>
              </a:rPr>
              <a:t>신청 전 개별 상황에 따라 세부 공고문 및 기관 최종 확인이 필수인 사항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3190" y="6219825"/>
            <a:ext cx="4690764" cy="1714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0" sz="975" i="0" u="none">
                <a:solidFill>
                  <a:srgbClr val="0F172A"/>
                </a:solidFill>
                <a:latin typeface="Noto Sans KR"/>
              </a:rPr>
              <a:t>출처: 주거나침반, 복지로, LH청약플러스, 한국장학재단 공식 가이드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32802" y="6238875"/>
            <a:ext cx="635347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2563EB"/>
                </a:solidFill>
                <a:latin typeface="Noto Sans KR"/>
              </a:rPr>
              <a:t>08 / 08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7949" y="2409825"/>
            <a:ext cx="11214050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1E293B"/>
                </a:solidFill>
                <a:latin typeface="Noto Sans KR"/>
              </a:rPr>
              <a:t>보편형 공공임대 소득 세부 기준:</a:t>
            </a:r>
            <a:r>
              <a:rPr b="0" sz="1350" i="0" u="none">
                <a:solidFill>
                  <a:srgbClr val="1E293B"/>
                </a:solidFill>
                <a:latin typeface="Noto Sans KR"/>
              </a:rPr>
              <a:t> 확정 공고문 발표 시 구체적 소득 한도 재확인 필요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7949" y="2724150"/>
            <a:ext cx="11214050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1E293B"/>
                </a:solidFill>
                <a:latin typeface="Noto Sans KR"/>
              </a:rPr>
              <a:t>행복주택 대학생 계층 차량 소유 여부:</a:t>
            </a:r>
            <a:r>
              <a:rPr b="0" sz="1350" i="0" u="none">
                <a:solidFill>
                  <a:srgbClr val="1E293B"/>
                </a:solidFill>
                <a:latin typeface="Noto Sans KR"/>
              </a:rPr>
              <a:t> 차량 보유 시 '청년 계층'으로 변경 신청 필수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7949" y="3038475"/>
            <a:ext cx="11214050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1E293B"/>
                </a:solidFill>
                <a:latin typeface="Noto Sans KR"/>
              </a:rPr>
              <a:t>중복 수혜 제약:</a:t>
            </a:r>
            <a:r>
              <a:rPr b="0" sz="1350" i="0" u="none">
                <a:solidFill>
                  <a:srgbClr val="1E293B"/>
                </a:solidFill>
                <a:latin typeface="Noto Sans KR"/>
              </a:rPr>
              <a:t> 주거안정장학금과 국토부 청년월세 지원 간 중복 가능 여부 사전 확인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9625" y="3819525"/>
            <a:ext cx="2370832" cy="200025"/>
          </a:xfrm>
          <a:prstGeom prst="rect">
            <a:avLst/>
          </a:prstGeom>
          <a:noFill/>
        </p:spPr>
        <p:txBody>
          <a:bodyPr wrap="none" lIns="194816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E293B"/>
                </a:solidFill>
                <a:latin typeface="Noto Sans KR"/>
              </a:rPr>
              <a:t>복지로 &amp; LH 청약플러스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70551" y="3829050"/>
            <a:ext cx="4921448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Noto Sans KR"/>
              </a:rPr>
              <a:t>청년월세 상시 신청 자격 및 임대주택 입주자 모집 공고 알림 확인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9625" y="4419600"/>
            <a:ext cx="1439540" cy="200025"/>
          </a:xfrm>
          <a:prstGeom prst="rect">
            <a:avLst/>
          </a:prstGeom>
          <a:noFill/>
        </p:spPr>
        <p:txBody>
          <a:bodyPr wrap="none" lIns="194816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E293B"/>
                </a:solidFill>
                <a:latin typeface="Noto Sans KR"/>
              </a:rPr>
              <a:t>한국장학재단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86625" y="4429125"/>
            <a:ext cx="490537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Noto Sans KR"/>
              </a:rPr>
              <a:t>주거안정장학금 성적 및 학자금 지원구간(기초·차상위) 충족 여부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9625" y="5019675"/>
            <a:ext cx="2116894" cy="200025"/>
          </a:xfrm>
          <a:prstGeom prst="rect">
            <a:avLst/>
          </a:prstGeom>
          <a:noFill/>
        </p:spPr>
        <p:txBody>
          <a:bodyPr wrap="none" lIns="194816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E293B"/>
                </a:solidFill>
                <a:latin typeface="Noto Sans KR"/>
              </a:rPr>
              <a:t>거주 지자체 청년포털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075" y="5029200"/>
            <a:ext cx="4968924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Noto Sans KR"/>
              </a:rPr>
              <a:t>성남시 등 지자체 이사비·중개비 지원 사업 모집 기간 및 제출 서류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48475"/>
            <a:ext cx="12192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1100" y="1514475"/>
            <a:ext cx="857250" cy="4762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81100" y="1028700"/>
            <a:ext cx="2668302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1" sz="2250" i="0" u="none">
                <a:solidFill>
                  <a:srgbClr val="0F172A"/>
                </a:solidFill>
                <a:latin typeface="Noto Sans KR"/>
              </a:rPr>
              <a:t>Image 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76475" y="1571625"/>
            <a:ext cx="7975885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F172A"/>
                </a:solidFill>
                <a:latin typeface="Noto Sans KR"/>
              </a:rPr>
              <a:t>https://transsolar.com/media/pages/projects/seoul-masterplan-gangnam-district/3ef7aa25c0-1528961720/image6.jpg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76475" y="1762125"/>
            <a:ext cx="1948346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F172A"/>
                </a:solidFill>
                <a:latin typeface="Noto Sans K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Noto Sans KR"/>
              </a:rPr>
              <a:t>transsolar.com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