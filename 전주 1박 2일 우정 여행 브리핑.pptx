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Noto Sans KR"/>
      <ns0:bold ns1:id="rIdFont16"/>
      <ns0:regular ns1:id="rIdFont17"/>
    </ns0:embeddedFont>
    <ns0:embeddedFont>
      <ns0:font typeface="Gowun Batang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e9b2eaf6-7816-46ee-91ca-aceb1336da52.fntdata" /><ns0:Relationship Id="rIdFont17" Type="http://schemas.openxmlformats.org/officeDocument/2006/relationships/font" Target="fonts/91e2f830-cb8a-46f0-a656-7ac5bbe1bc99.fntdata" /><ns0:Relationship Id="rIdFont18" Type="http://schemas.openxmlformats.org/officeDocument/2006/relationships/font" Target="fonts/b13335c8-58ba-43e5-80fc-670f09e455e1.fntdata" /><ns0:Relationship Id="rIdFont19" Type="http://schemas.openxmlformats.org/officeDocument/2006/relationships/font" Target="fonts/cc1bd8df-34a5-4999-8fb0-1ad9feac85e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307085"/>
            <a:ext cx="5334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51266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97706"/>
                </a:solidFill>
                <a:latin typeface="Gowun Batang"/>
              </a:rPr>
              <a:t>대학생 3인 가성비 우정 여행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93665"/>
            <a:ext cx="10626328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AFAF9"/>
                </a:solidFill>
                <a:latin typeface="Gowun Batang"/>
              </a:rPr>
              <a:t>전주 1박 2일 완벽 여행 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78435"/>
            <a:ext cx="7739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A8A29E"/>
                </a:solidFill>
                <a:latin typeface="Noto Sans KR"/>
              </a:rPr>
              <a:t>1인당 예산 15만 원으로 즐기는 감성 한옥 스테이 &amp; 먹방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3454449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14650"/>
            <a:ext cx="3454449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14650"/>
            <a:ext cx="3454449" cy="2143125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00" y="325755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325755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599" y="325755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192" y="3400425"/>
            <a:ext cx="16311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4442" y="3400425"/>
            <a:ext cx="16311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3691" y="3400425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C1917"/>
                </a:solidFill>
                <a:latin typeface="Noto Sans KR"/>
              </a:rPr>
              <a:t>여행 핵심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3936" y="3943350"/>
            <a:ext cx="1525776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C1917"/>
                </a:solidFill>
                <a:latin typeface="Noto Sans KR"/>
              </a:rPr>
              <a:t>15만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7575" y="4486275"/>
            <a:ext cx="17384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B7280"/>
                </a:solidFill>
                <a:latin typeface="Noto Sans KR"/>
              </a:rPr>
              <a:t>1인당 알뜰 총예산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186" y="3943350"/>
            <a:ext cx="1525776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C1917"/>
                </a:solidFill>
                <a:latin typeface="Noto Sans KR"/>
              </a:rPr>
              <a:t>1박 2일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9434" y="4486275"/>
            <a:ext cx="189327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B7280"/>
                </a:solidFill>
                <a:latin typeface="Noto Sans KR"/>
              </a:rPr>
              <a:t>주말 맞춤 힐링 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5137" y="3943350"/>
            <a:ext cx="180022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C1917"/>
                </a:solidFill>
                <a:latin typeface="Noto Sans KR"/>
              </a:rPr>
              <a:t>대중교통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4938" y="4486275"/>
            <a:ext cx="200062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B7280"/>
                </a:solidFill>
                <a:latin typeface="Noto Sans KR"/>
              </a:rPr>
              <a:t>도보 &amp; 3인 택시 조합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3358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851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4343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B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033587"/>
            <a:ext cx="38100" cy="11144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38512"/>
            <a:ext cx="38100" cy="11144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43437"/>
            <a:ext cx="38100" cy="11144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895475"/>
            <a:ext cx="52959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DAY 1 ITINERARY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1C1917"/>
                </a:solidFill>
                <a:latin typeface="Noto Sans KR"/>
              </a:rPr>
              <a:t>1일차: 한옥 감성과 야시장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224087"/>
            <a:ext cx="600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오전 (11:30 ~ 13:00)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443162"/>
            <a:ext cx="63007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도착 &amp; 현대옥 콩나물국밥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738437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전주도착 후 뜨끈한 남부시장식 국밥 점심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29012"/>
            <a:ext cx="600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오후 (13:00 ~ 18:00)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748087"/>
            <a:ext cx="63007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한복 체험 &amp; 경기전 인생샷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043362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대나무 숲길 스냅촬영 및 한옥 카페 투어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833937"/>
            <a:ext cx="6000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저녁 (18:00 ~ 21:30)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53012"/>
            <a:ext cx="63007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오목대 야경 &amp; 남부시장 야시장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348287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한옥마을 전경 감상 후 길거리 야식 탐방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03358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4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338512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4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643437"/>
            <a:ext cx="5295900" cy="1114425"/>
          </a:xfrm>
          <a:prstGeom prst="roundRect">
            <a:avLst>
              <a:gd name="adj" fmla="val 10256"/>
            </a:avLst>
          </a:prstGeom>
          <a:solidFill>
            <a:srgbClr val="F4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2033587"/>
            <a:ext cx="38100" cy="1114425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0" y="3338512"/>
            <a:ext cx="38100" cy="1114425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0" y="4643437"/>
            <a:ext cx="38100" cy="1114425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5475"/>
            <a:ext cx="52959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Noto Sans KR"/>
              </a:rPr>
              <a:t>DAY 2 ITINERARY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1C1917"/>
                </a:solidFill>
                <a:latin typeface="Noto Sans KR"/>
              </a:rPr>
              <a:t>2일차: 객리단길 &amp; 문화 충전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224087"/>
            <a:ext cx="5638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Noto Sans KR"/>
              </a:rPr>
              <a:t>오전 (10:00 ~ 12:30)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443162"/>
            <a:ext cx="56388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베테랑 칼국수 &amp; 벽화마을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738437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들깨 칼국수 아점 후 자만벽화마을 산책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529012"/>
            <a:ext cx="5638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Noto Sans KR"/>
              </a:rPr>
              <a:t>오후 (12:30 ~ 16:00)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748087"/>
            <a:ext cx="56388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객리단길 탐방 &amp; 기념품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043362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소품샵 투어 및 풍년제과 초코파이 구매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833937"/>
            <a:ext cx="5638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47857"/>
                </a:solidFill>
                <a:latin typeface="Noto Sans KR"/>
              </a:rPr>
              <a:t>마무리 (16:00 ~)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5053012"/>
            <a:ext cx="56388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전주역 / 터미널 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5348287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친구들과 추억 정리 후 안전하게 귀가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14550"/>
            <a:ext cx="10972800" cy="35623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114550"/>
          <a:ext cx="10972799" cy="3562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76227"/>
                <a:gridCol w="5343822"/>
                <a:gridCol w="2952750"/>
              </a:tblGrid>
              <a:tr h="5937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상세 내용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FFFFFF"/>
                          </a:solidFill>
                          <a:latin typeface="Noto Sans KR"/>
                        </a:rPr>
                        <a:t>1인당 예상 비용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C1917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교통비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Noto Sans KR"/>
                        </a:rPr>
                        <a:t>왕복 버스/기차 + 시내 이동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35,000원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숙박비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Noto Sans KR"/>
                        </a:rPr>
                        <a:t>한옥 게스트하우스 (3인 1실)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35,000원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식비 &amp; 카페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Noto Sans KR"/>
                        </a:rPr>
                        <a:t>식사 4회 + 야시장 + 감성 카페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58,000원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체험 &amp; 입장료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B5563"/>
                          </a:solidFill>
                          <a:latin typeface="Noto Sans KR"/>
                        </a:rPr>
                        <a:t>한복 대여 (2시간) + 경기전 입장료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350" i="0" u="none">
                          <a:solidFill>
                            <a:srgbClr val="1C1917"/>
                          </a:solidFill>
                          <a:latin typeface="Noto Sans KR"/>
                        </a:rPr>
                        <a:t>12,000원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B45309"/>
                          </a:solidFill>
                          <a:latin typeface="Noto Sans KR"/>
                        </a:rPr>
                        <a:t>총계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B45309"/>
                          </a:solidFill>
                          <a:latin typeface="Noto Sans KR"/>
                        </a:rPr>
                        <a:t>예산(15만 원) 대비 여유 잔액 확보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650" i="0" u="none">
                          <a:solidFill>
                            <a:srgbClr val="B45309"/>
                          </a:solidFill>
                          <a:latin typeface="Noto Sans KR"/>
                        </a:rPr>
                        <a:t>약 140,000원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1C1917"/>
                </a:solidFill>
                <a:latin typeface="Noto Sans KR"/>
              </a:rPr>
              <a:t>1인당 예상 경비 상세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6587"/>
            <a:ext cx="2600325" cy="1438275"/>
          </a:xfrm>
          <a:prstGeom prst="roundRect">
            <a:avLst>
              <a:gd name="adj" fmla="val 7947"/>
            </a:avLst>
          </a:prstGeom>
          <a:solidFill>
            <a:srgbClr val="FBF9F5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76587"/>
            <a:ext cx="2600325" cy="1438275"/>
          </a:xfrm>
          <a:prstGeom prst="roundRect">
            <a:avLst>
              <a:gd name="adj" fmla="val 7947"/>
            </a:avLst>
          </a:prstGeom>
          <a:solidFill>
            <a:srgbClr val="FBF9F5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76587"/>
            <a:ext cx="2600325" cy="1438275"/>
          </a:xfrm>
          <a:prstGeom prst="roundRect">
            <a:avLst>
              <a:gd name="adj" fmla="val 7947"/>
            </a:avLst>
          </a:prstGeom>
          <a:solidFill>
            <a:srgbClr val="FBF9F5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76587"/>
            <a:ext cx="2600325" cy="1438275"/>
          </a:xfrm>
          <a:prstGeom prst="roundRect">
            <a:avLst>
              <a:gd name="adj" fmla="val 7947"/>
            </a:avLst>
          </a:prstGeom>
          <a:solidFill>
            <a:srgbClr val="FBF9F5"/>
          </a:solidFill>
          <a:ln w="9525"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ACCOMMODATION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1C1917"/>
                </a:solidFill>
                <a:latin typeface="Noto Sans KR"/>
              </a:rPr>
              <a:t>가성비 한옥 게스트하우스 4선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19512"/>
            <a:ext cx="2238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3인 약 6만~8만 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719512"/>
            <a:ext cx="2238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3인 약 8만~9만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719512"/>
            <a:ext cx="2238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3인 약 8만~9만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719512"/>
            <a:ext cx="2238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3인 약 6만~7만 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52812"/>
            <a:ext cx="278784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마당예쁜집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86187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고즈넉한 마당 스팟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52812"/>
            <a:ext cx="278784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한옥고택 고을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786187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경기전 근처 접근성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452812"/>
            <a:ext cx="278784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교동살래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786187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인스타 감성 인테리어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452812"/>
            <a:ext cx="2787848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C1917"/>
                </a:solidFill>
                <a:latin typeface="Noto Sans KR"/>
              </a:rPr>
              <a:t>하늘애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786187"/>
            <a:ext cx="2655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Noto Sans KR"/>
              </a:rPr>
              <a:t>객리단길 이동 용이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6100"/>
            <a:ext cx="5314950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3086100"/>
            <a:ext cx="5314950" cy="161925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19475"/>
            <a:ext cx="177849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419475"/>
            <a:ext cx="177849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Noto Sans KR"/>
              </a:rPr>
              <a:t>TIPS &amp; TRICKS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1C1917"/>
                </a:solidFill>
                <a:latin typeface="Noto Sans KR"/>
              </a:rPr>
              <a:t>이동 수단 &amp; 현지 꿀팁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905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Noto Sans KR"/>
              </a:rPr>
              <a:t>전주역/터미널에서 한옥마을 이동 시 택시비 약 7~8천 원. 3명이면 버스비와 비슷해 시간 절약에 최적입니다.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82905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Noto Sans KR"/>
              </a:rPr>
              <a:t>메인 거리보다 골목 안쪽 대여점이 서비스 시간이 길고 무료 머리 정돈 혜택이 풍부합니다.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549" y="3390900"/>
            <a:ext cx="230751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Noto Sans KR"/>
              </a:rPr>
              <a:t>3인 택시 적극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399" y="3390900"/>
            <a:ext cx="2429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C1917"/>
                </a:solidFill>
                <a:latin typeface="Noto Sans KR"/>
              </a:rPr>
              <a:t>골목 안쪽 한복 대여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289077"/>
            <a:ext cx="457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4420" y="2540347"/>
            <a:ext cx="15831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D97706"/>
                </a:solidFill>
                <a:latin typeface="Gowun Batang"/>
              </a:rPr>
              <a:t>READY TO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5493" y="2911822"/>
            <a:ext cx="8101012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AFAF9"/>
                </a:solidFill>
                <a:latin typeface="Gowun Batang"/>
              </a:rPr>
              <a:t>이번 주말, 전주로 떠나볼까요?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5032" y="3689002"/>
            <a:ext cx="488193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A8A29E"/>
                </a:solidFill>
                <a:latin typeface="Noto Sans KR"/>
              </a:rPr>
              <a:t>잊지 못할 3명만의 추억 여행을 함께 만들어요!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382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107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3464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Noto Sans K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524526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Noto Sans KR"/>
              </a:rPr>
              <a:t>https://southkoreahallyu.com/wp-content/uploads/2023/11/JEONJU-NEW.jpg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28725"/>
            <a:ext cx="256263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southkoreahallyu.com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791356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Noto Sans KR"/>
              </a:rPr>
              <a:t>https://cdn.koreatraveleasy.com/wp-content/uploads/2020/03/31070824/Jeonju-hanok-village-bamboo-964x590.png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0250"/>
            <a:ext cx="290810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www.koreatraveleasy.com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